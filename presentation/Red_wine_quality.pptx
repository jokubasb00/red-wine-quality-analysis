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542" autoAdjust="0"/>
  </p:normalViewPr>
  <p:slideViewPr>
    <p:cSldViewPr snapToGrid="0">
      <p:cViewPr varScale="1">
        <p:scale>
          <a:sx n="127" d="100"/>
          <a:sy n="127" d="100"/>
        </p:scale>
        <p:origin x="15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Cortez, P., </a:t>
            </a:r>
            <a:r>
              <a:rPr dirty="0" err="1"/>
              <a:t>Cerdeira</a:t>
            </a:r>
            <a:r>
              <a:rPr dirty="0"/>
              <a:t>, A., Almeida, F., Matos, T., &amp; Reis, J. (2009). Wine Quality [Dataset]. UCI Machine Learning Repository. https://doi.org/10.24432/C56S3T. CC BY 4.0. Red subset, winequality-red.csv. Dataset: https://archive.ics.uci.edu/dataset/186/wine+quality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109B7C-F424-4003-9E47-9570A72BAF0C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Red wine quality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evaluation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F35430-3627-4808-BC19-99FEFB509AD2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chemical measurements</a:t>
            </a:r>
          </a:p>
          <a:p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are associated with higher quality</a:t>
            </a:r>
            <a:r>
              <a:rPr lang="en-US" sz="39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wine</a:t>
            </a:r>
            <a:r>
              <a:rPr sz="39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287EA-6CFA-482F-8F98-2F8613ECB307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0E4E8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UCI Wine Quality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CD87F-CE87-4F0A-8A24-78C29EDD192C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0E4E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Red Vinho Verde, Portugal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0D10AA-6E98-4A0B-BD2B-2983ED3392D5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F0E4E8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Jokubas Banaitis</a:t>
            </a:r>
            <a:endParaRPr sz="1500" b="0" dirty="0">
              <a:solidFill>
                <a:srgbClr val="F0E4E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57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8870B6-8AAD-413B-B139-0070F76A879C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Most wines score 5 or 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700" y="1640681"/>
            <a:ext cx="8905875" cy="4452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0EF76C-C3E5-4E2F-A829-C926D1C8A9BA}"/>
              </a:ext>
            </a:extLst>
          </p:cNvPr>
          <p:cNvSpPr>
            <a:spLocks noGrp="1"/>
          </p:cNvSpPr>
          <p:nvPr/>
        </p:nvSpPr>
        <p:spPr>
          <a:xfrm>
            <a:off x="9429750" y="1657350"/>
            <a:ext cx="2238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642B3E"/>
                </a:solidFill>
                <a:latin typeface="Arial"/>
                <a:ea typeface="Arial"/>
                <a:cs typeface="Arial"/>
              </a:defRPr>
            </a:pPr>
            <a:r>
              <a:rPr sz="4050" b="1" dirty="0">
                <a:solidFill>
                  <a:srgbClr val="642B3E"/>
                </a:solidFill>
                <a:latin typeface="Arial"/>
                <a:ea typeface="Arial"/>
                <a:cs typeface="Arial"/>
              </a:rPr>
              <a:t>1,599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58FE1-06AB-4D92-A5FC-9557A39CD542}"/>
              </a:ext>
            </a:extLst>
          </p:cNvPr>
          <p:cNvSpPr>
            <a:spLocks noGrp="1"/>
          </p:cNvSpPr>
          <p:nvPr/>
        </p:nvSpPr>
        <p:spPr>
          <a:xfrm>
            <a:off x="9429750" y="2291577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02F36"/>
                </a:solidFill>
                <a:latin typeface="Arial"/>
                <a:ea typeface="Arial"/>
                <a:cs typeface="Arial"/>
              </a:rPr>
              <a:t>wine samples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D3604-80E5-4D60-AE44-8BD47D656537}"/>
              </a:ext>
            </a:extLst>
          </p:cNvPr>
          <p:cNvSpPr>
            <a:spLocks noGrp="1"/>
          </p:cNvSpPr>
          <p:nvPr/>
        </p:nvSpPr>
        <p:spPr>
          <a:xfrm>
            <a:off x="9329151" y="3009900"/>
            <a:ext cx="2368593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02F36"/>
                </a:solidFill>
                <a:latin typeface="Arial"/>
                <a:ea typeface="Arial"/>
                <a:cs typeface="Arial"/>
              </a:rPr>
              <a:t>11 measurements</a:t>
            </a:r>
          </a:p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02F36"/>
                </a:solidFill>
                <a:latin typeface="Arial"/>
                <a:ea typeface="Arial"/>
                <a:cs typeface="Arial"/>
              </a:rPr>
              <a:t>+ quality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EB23E-77BA-4E02-B255-BE5190366120}"/>
              </a:ext>
            </a:extLst>
          </p:cNvPr>
          <p:cNvSpPr>
            <a:spLocks noGrp="1"/>
          </p:cNvSpPr>
          <p:nvPr/>
        </p:nvSpPr>
        <p:spPr>
          <a:xfrm>
            <a:off x="9172575" y="426720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167D79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167D79"/>
                </a:solidFill>
                <a:latin typeface="Arial"/>
                <a:ea typeface="Arial"/>
                <a:cs typeface="Arial"/>
              </a:rPr>
              <a:t>82.5%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068A3-7F5B-4F5C-97F5-858DAAFD67AB}"/>
              </a:ext>
            </a:extLst>
          </p:cNvPr>
          <p:cNvSpPr>
            <a:spLocks noGrp="1"/>
          </p:cNvSpPr>
          <p:nvPr/>
        </p:nvSpPr>
        <p:spPr>
          <a:xfrm>
            <a:off x="9180469" y="4908571"/>
            <a:ext cx="2368593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lang="en-US" sz="1875" dirty="0">
                <a:solidFill>
                  <a:srgbClr val="202F36"/>
                </a:solidFill>
                <a:latin typeface="Arial"/>
                <a:ea typeface="Arial"/>
                <a:cs typeface="Arial"/>
              </a:rPr>
              <a:t>of them </a:t>
            </a:r>
            <a:r>
              <a:rPr sz="1875" b="0" dirty="0">
                <a:solidFill>
                  <a:srgbClr val="202F36"/>
                </a:solidFill>
                <a:latin typeface="Arial"/>
                <a:ea typeface="Arial"/>
                <a:cs typeface="Arial"/>
              </a:rPr>
              <a:t>score 5 or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9701D6-C4E7-40D3-9E43-E6783A32156A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3666D"/>
                </a:solidFill>
                <a:latin typeface="Arial"/>
                <a:ea typeface="Arial"/>
                <a:cs typeface="Arial"/>
              </a:rPr>
              <a:t>Python analysis: </a:t>
            </a:r>
            <a:r>
              <a:rPr lang="en-US" sz="1725" b="0" dirty="0">
                <a:solidFill>
                  <a:srgbClr val="53666D"/>
                </a:solidFill>
                <a:latin typeface="Arial"/>
                <a:ea typeface="Arial"/>
                <a:cs typeface="Arial"/>
              </a:rPr>
              <a:t>P</a:t>
            </a:r>
            <a:r>
              <a:rPr sz="1725" b="0" dirty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andas and Matplotlib</a:t>
            </a:r>
          </a:p>
        </p:txBody>
      </p:sp>
    </p:spTree>
    <p:extLst>
      <p:ext uri="{BB962C8B-B14F-4D97-AF65-F5344CB8AC3E}">
        <p14:creationId xmlns:p14="http://schemas.microsoft.com/office/powerpoint/2010/main" val="31663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A6CBD5-7F07-4D38-BBFB-BB407D09A2F8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Alcohol has the strongest individual correlation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700" y="1114425"/>
            <a:ext cx="8172450" cy="5448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E5E7C0-7321-4B92-AE91-307E97645E90}"/>
              </a:ext>
            </a:extLst>
          </p:cNvPr>
          <p:cNvSpPr>
            <a:spLocks noGrp="1"/>
          </p:cNvSpPr>
          <p:nvPr/>
        </p:nvSpPr>
        <p:spPr>
          <a:xfrm>
            <a:off x="8705850" y="1657350"/>
            <a:ext cx="27622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67D7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7D79"/>
                </a:solidFill>
                <a:latin typeface="Arial"/>
                <a:ea typeface="Arial"/>
                <a:cs typeface="Arial"/>
              </a:rPr>
              <a:t>+0.479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07E3E-C620-488E-9A78-76A602861B9C}"/>
              </a:ext>
            </a:extLst>
          </p:cNvPr>
          <p:cNvSpPr>
            <a:spLocks noGrp="1"/>
          </p:cNvSpPr>
          <p:nvPr/>
        </p:nvSpPr>
        <p:spPr>
          <a:xfrm>
            <a:off x="8753475" y="2276475"/>
            <a:ext cx="27051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alcohol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571C7-AA5D-4CED-BE05-E401E2F8578A}"/>
              </a:ext>
            </a:extLst>
          </p:cNvPr>
          <p:cNvSpPr>
            <a:spLocks noGrp="1"/>
          </p:cNvSpPr>
          <p:nvPr/>
        </p:nvSpPr>
        <p:spPr>
          <a:xfrm>
            <a:off x="8705850" y="3114675"/>
            <a:ext cx="27622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642B3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42B3E"/>
                </a:solidFill>
                <a:latin typeface="Arial"/>
                <a:ea typeface="Arial"/>
                <a:cs typeface="Arial"/>
              </a:rPr>
              <a:t>−0.381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0FD76-ADD6-4B16-BD0B-411D0FDF15AA}"/>
              </a:ext>
            </a:extLst>
          </p:cNvPr>
          <p:cNvSpPr>
            <a:spLocks noGrp="1"/>
          </p:cNvSpPr>
          <p:nvPr/>
        </p:nvSpPr>
        <p:spPr>
          <a:xfrm>
            <a:off x="8753475" y="3733800"/>
            <a:ext cx="27051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volatile acidity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6233C-6010-433E-B886-0C556A1CA543}"/>
              </a:ext>
            </a:extLst>
          </p:cNvPr>
          <p:cNvSpPr>
            <a:spLocks noGrp="1"/>
          </p:cNvSpPr>
          <p:nvPr/>
        </p:nvSpPr>
        <p:spPr>
          <a:xfrm>
            <a:off x="8753475" y="4857750"/>
            <a:ext cx="276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Sulphates also</a:t>
            </a:r>
          </a:p>
          <a:p>
            <a:pPr>
              <a:defRPr sz="202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stand out: +0.377</a:t>
            </a:r>
          </a:p>
        </p:txBody>
      </p:sp>
    </p:spTree>
    <p:extLst>
      <p:ext uri="{BB962C8B-B14F-4D97-AF65-F5344CB8AC3E}">
        <p14:creationId xmlns:p14="http://schemas.microsoft.com/office/powerpoint/2010/main" val="1678758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B25F9A-1526-4FEE-8A91-6837379E4ADF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Higher scores tend to accompany higher alcohol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8600" y="1104900"/>
            <a:ext cx="8763000" cy="5476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CCA1AB-5339-4602-BBCD-15BB1B4982E9}"/>
              </a:ext>
            </a:extLst>
          </p:cNvPr>
          <p:cNvSpPr>
            <a:spLocks noGrp="1"/>
          </p:cNvSpPr>
          <p:nvPr/>
        </p:nvSpPr>
        <p:spPr>
          <a:xfrm>
            <a:off x="9105900" y="1828800"/>
            <a:ext cx="26955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Median alcohol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E0852-5298-46DE-8198-0B3424F887F2}"/>
              </a:ext>
            </a:extLst>
          </p:cNvPr>
          <p:cNvSpPr>
            <a:spLocks noGrp="1"/>
          </p:cNvSpPr>
          <p:nvPr/>
        </p:nvSpPr>
        <p:spPr>
          <a:xfrm>
            <a:off x="9105900" y="2800350"/>
            <a:ext cx="2619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25" b="1">
                <a:solidFill>
                  <a:srgbClr val="167D7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67D79"/>
                </a:solidFill>
                <a:latin typeface="Arial"/>
                <a:ea typeface="Arial"/>
                <a:cs typeface="Arial"/>
              </a:rPr>
              <a:t>9.7%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DDC2F7-6F42-485C-8DE2-C6F1885ADE0D}"/>
              </a:ext>
            </a:extLst>
          </p:cNvPr>
          <p:cNvSpPr>
            <a:spLocks noGrp="1"/>
          </p:cNvSpPr>
          <p:nvPr/>
        </p:nvSpPr>
        <p:spPr>
          <a:xfrm>
            <a:off x="9144000" y="34194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quality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406CC-5841-4B37-AB95-199FE58BB71D}"/>
              </a:ext>
            </a:extLst>
          </p:cNvPr>
          <p:cNvSpPr>
            <a:spLocks noGrp="1"/>
          </p:cNvSpPr>
          <p:nvPr/>
        </p:nvSpPr>
        <p:spPr>
          <a:xfrm>
            <a:off x="9105900" y="4267200"/>
            <a:ext cx="26670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25" b="1">
                <a:solidFill>
                  <a:srgbClr val="167D7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67D79"/>
                </a:solidFill>
                <a:latin typeface="Arial"/>
                <a:ea typeface="Arial"/>
                <a:cs typeface="Arial"/>
              </a:rPr>
              <a:t>11.5%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96D2E0-C825-43DE-8342-E7D284463338}"/>
              </a:ext>
            </a:extLst>
          </p:cNvPr>
          <p:cNvSpPr>
            <a:spLocks noGrp="1"/>
          </p:cNvSpPr>
          <p:nvPr/>
        </p:nvSpPr>
        <p:spPr>
          <a:xfrm>
            <a:off x="9144000" y="488632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quality 7</a:t>
            </a:r>
          </a:p>
        </p:txBody>
      </p:sp>
    </p:spTree>
    <p:extLst>
      <p:ext uri="{BB962C8B-B14F-4D97-AF65-F5344CB8AC3E}">
        <p14:creationId xmlns:p14="http://schemas.microsoft.com/office/powerpoint/2010/main" val="29870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D29B70-E28B-47FD-AEDF-AFD8F8306F15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Higher scores accompany lower volatile acidity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8600" y="1104900"/>
            <a:ext cx="8763000" cy="5476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2BC0A4-AFEF-46E9-AC21-90120A3CD19E}"/>
              </a:ext>
            </a:extLst>
          </p:cNvPr>
          <p:cNvSpPr>
            <a:spLocks noGrp="1"/>
          </p:cNvSpPr>
          <p:nvPr/>
        </p:nvSpPr>
        <p:spPr>
          <a:xfrm>
            <a:off x="9105900" y="1828800"/>
            <a:ext cx="26955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Median acidity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60FE4-C9F6-4AC9-9160-E7E08D4CE558}"/>
              </a:ext>
            </a:extLst>
          </p:cNvPr>
          <p:cNvSpPr>
            <a:spLocks noGrp="1"/>
          </p:cNvSpPr>
          <p:nvPr/>
        </p:nvSpPr>
        <p:spPr>
          <a:xfrm>
            <a:off x="9105900" y="2800350"/>
            <a:ext cx="27051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642B3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42B3E"/>
                </a:solidFill>
                <a:latin typeface="Arial"/>
                <a:ea typeface="Arial"/>
                <a:cs typeface="Arial"/>
              </a:rPr>
              <a:t>0.58 g/L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6EEB3A-22B2-4F88-AE77-0020A7B1452B}"/>
              </a:ext>
            </a:extLst>
          </p:cNvPr>
          <p:cNvSpPr>
            <a:spLocks noGrp="1"/>
          </p:cNvSpPr>
          <p:nvPr/>
        </p:nvSpPr>
        <p:spPr>
          <a:xfrm>
            <a:off x="9144000" y="34194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quality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5C088-64FC-4E7E-8D0D-29E78C2071D0}"/>
              </a:ext>
            </a:extLst>
          </p:cNvPr>
          <p:cNvSpPr>
            <a:spLocks noGrp="1"/>
          </p:cNvSpPr>
          <p:nvPr/>
        </p:nvSpPr>
        <p:spPr>
          <a:xfrm>
            <a:off x="9105900" y="4267200"/>
            <a:ext cx="2705100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642B3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42B3E"/>
                </a:solidFill>
                <a:latin typeface="Arial"/>
                <a:ea typeface="Arial"/>
                <a:cs typeface="Arial"/>
              </a:rPr>
              <a:t>0.37 g/L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AFFDD-8807-4A9B-B50A-986BCD2BD1A3}"/>
              </a:ext>
            </a:extLst>
          </p:cNvPr>
          <p:cNvSpPr>
            <a:spLocks noGrp="1"/>
          </p:cNvSpPr>
          <p:nvPr/>
        </p:nvSpPr>
        <p:spPr>
          <a:xfrm>
            <a:off x="9144000" y="488632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F36"/>
                </a:solidFill>
                <a:latin typeface="Arial"/>
                <a:ea typeface="Arial"/>
                <a:cs typeface="Arial"/>
              </a:rPr>
              <a:t>quality 7</a:t>
            </a:r>
          </a:p>
        </p:txBody>
      </p:sp>
    </p:spTree>
    <p:extLst>
      <p:ext uri="{BB962C8B-B14F-4D97-AF65-F5344CB8AC3E}">
        <p14:creationId xmlns:p14="http://schemas.microsoft.com/office/powerpoint/2010/main" val="169966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DC347F-F3AE-4849-A215-80EF99716068}"/>
              </a:ext>
            </a:extLst>
          </p:cNvPr>
          <p:cNvSpPr>
            <a:spLocks noGrp="1"/>
          </p:cNvSpPr>
          <p:nvPr/>
        </p:nvSpPr>
        <p:spPr>
          <a:xfrm>
            <a:off x="256940" y="312357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analysis supports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68C67-A0C2-4738-B436-17AC755C7A69}"/>
              </a:ext>
            </a:extLst>
          </p:cNvPr>
          <p:cNvSpPr>
            <a:spLocks noGrp="1"/>
          </p:cNvSpPr>
          <p:nvPr/>
        </p:nvSpPr>
        <p:spPr>
          <a:xfrm>
            <a:off x="256940" y="1714500"/>
            <a:ext cx="11773844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Higher alcohol</a:t>
            </a:r>
            <a:r>
              <a:rPr lang="en-US" sz="3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Lower volatile acidity</a:t>
            </a:r>
            <a:r>
              <a:rPr lang="en-US" sz="3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4000" b="1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4000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oth tend to accompany higher quality scores</a:t>
            </a:r>
          </a:p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39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D9708D-2F1B-4EA8-B8EC-1CED476B62EB}"/>
              </a:ext>
            </a:extLst>
          </p:cNvPr>
          <p:cNvSpPr>
            <a:spLocks noGrp="1"/>
          </p:cNvSpPr>
          <p:nvPr/>
        </p:nvSpPr>
        <p:spPr>
          <a:xfrm>
            <a:off x="256940" y="4838700"/>
            <a:ext cx="10715625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0E4E8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Overlapping groups. Few extreme scores.</a:t>
            </a:r>
          </a:p>
          <a:p>
            <a:pPr>
              <a:defRPr sz="2175" b="0">
                <a:solidFill>
                  <a:srgbClr val="F0E4E8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F0E4E8"/>
                </a:solidFill>
                <a:latin typeface="Arial"/>
                <a:ea typeface="Arial"/>
                <a:cs typeface="Arial"/>
              </a:rPr>
              <a:t>Observational data cannot establish an ideal recipe.</a:t>
            </a:r>
          </a:p>
        </p:txBody>
      </p:sp>
    </p:spTree>
    <p:extLst>
      <p:ext uri="{BB962C8B-B14F-4D97-AF65-F5344CB8AC3E}">
        <p14:creationId xmlns:p14="http://schemas.microsoft.com/office/powerpoint/2010/main" val="898452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2AA44A6-098B-4106-B96D-EF6AF97C037B}"/>
              </a:ext>
            </a:extLst>
          </p:cNvPr>
          <p:cNvSpPr>
            <a:spLocks noGrp="1"/>
          </p:cNvSpPr>
          <p:nvPr/>
        </p:nvSpPr>
        <p:spPr>
          <a:xfrm>
            <a:off x="476250" y="304800"/>
            <a:ext cx="111442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Predicting quality is a next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BC4F15-8E77-488A-A521-ED45FBC48D59}"/>
              </a:ext>
            </a:extLst>
          </p:cNvPr>
          <p:cNvSpPr>
            <a:spLocks noGrp="1"/>
          </p:cNvSpPr>
          <p:nvPr/>
        </p:nvSpPr>
        <p:spPr>
          <a:xfrm>
            <a:off x="571500" y="126682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642B3E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642B3E"/>
                </a:solidFill>
                <a:latin typeface="Arial"/>
                <a:ea typeface="Arial"/>
                <a:cs typeface="Arial"/>
              </a:rPr>
              <a:t>PROPOSED </a:t>
            </a:r>
            <a:r>
              <a:rPr lang="en-US" sz="1650" b="1" dirty="0">
                <a:solidFill>
                  <a:srgbClr val="642B3E"/>
                </a:solidFill>
                <a:latin typeface="Arial"/>
                <a:ea typeface="Arial"/>
                <a:cs typeface="Arial"/>
              </a:rPr>
              <a:t>FUTURE </a:t>
            </a:r>
            <a:r>
              <a:rPr sz="1650" b="1" dirty="0">
                <a:solidFill>
                  <a:srgbClr val="642B3E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AB60F-6BEC-46E7-A501-277E8595896D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67D7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7D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D66EB5-9F38-4F1F-9998-E7CC5EAFC776}"/>
              </a:ext>
            </a:extLst>
          </p:cNvPr>
          <p:cNvSpPr>
            <a:spLocks noGrp="1"/>
          </p:cNvSpPr>
          <p:nvPr/>
        </p:nvSpPr>
        <p:spPr>
          <a:xfrm>
            <a:off x="1600200" y="2095500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Compare baseline, 2 factors, and all 11 factors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0EF7D-BBC5-4F1C-9DAD-7D4CE98096F7}"/>
              </a:ext>
            </a:extLst>
          </p:cNvPr>
          <p:cNvSpPr>
            <a:spLocks noGrp="1"/>
          </p:cNvSpPr>
          <p:nvPr/>
        </p:nvSpPr>
        <p:spPr>
          <a:xfrm>
            <a:off x="590550" y="3095625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167D7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7D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77C08-04F8-48D1-87BB-19C697C2C0F4}"/>
              </a:ext>
            </a:extLst>
          </p:cNvPr>
          <p:cNvSpPr>
            <a:spLocks noGrp="1"/>
          </p:cNvSpPr>
          <p:nvPr/>
        </p:nvSpPr>
        <p:spPr>
          <a:xfrm>
            <a:off x="1600200" y="3095625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02F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F36"/>
                </a:solidFill>
                <a:latin typeface="Arial"/>
                <a:ea typeface="Arial"/>
                <a:cs typeface="Arial"/>
              </a:rPr>
              <a:t>Test on unseen wines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F7CBF6-6EF7-40CA-8A8A-DF2D59D1BC2E}"/>
              </a:ext>
            </a:extLst>
          </p:cNvPr>
          <p:cNvSpPr>
            <a:spLocks noGrp="1"/>
          </p:cNvSpPr>
          <p:nvPr/>
        </p:nvSpPr>
        <p:spPr>
          <a:xfrm>
            <a:off x="590550" y="5543550"/>
            <a:ext cx="1085850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642B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42B3E"/>
                </a:solidFill>
                <a:latin typeface="Arial"/>
                <a:ea typeface="Arial"/>
                <a:cs typeface="Arial"/>
              </a:rPr>
              <a:t>An “ideal” profile would need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7357245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DocSecurity>0</DocSecurity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Audrius Banaitis</cp:lastModifiedBy>
  <cp:revision>1</cp:revision>
  <dcterms:created xsi:type="dcterms:W3CDTF">2026-10-07T18:55:39Z</dcterms:created>
  <dcterms:modified xsi:type="dcterms:W3CDTF">2026-10-07T21:02:33Z</dcterms:modified>
</cp:coreProperties>
</file>